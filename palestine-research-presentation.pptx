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2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uge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5760720" cy="5394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438912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800" b="1">
                <a:solidFill>
                  <a:srgbClr val="CBA153"/>
                </a:solidFill>
                <a:latin typeface="Arial"/>
              </a:rPr>
              <a:t>??? ?????? 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4846320" cy="13258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Arial"/>
              </a:rPr>
              <a:t>?????? ?????????? ????????? ?? ?????? ???????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00600" cy="7315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0">
                <a:solidFill>
                  <a:srgbClr val="E8EFF4"/>
                </a:solidFill>
                <a:latin typeface="Arial"/>
              </a:rPr>
              <a:t>????? ??????? ?? ???? ???????? ???????? ?? ????? ?? ???? ??????? ??????? ????? 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49039"/>
            <a:ext cx="4389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3931920" cy="237744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?????: ??? ??????? ???? ?????????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24528"/>
            <a:ext cx="393192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200" b="0">
                <a:solidFill>
                  <a:srgbClr val="EBEFF2"/>
                </a:solidFill>
                <a:latin typeface="Arial"/>
              </a:rPr>
              <a:t>????? ??????? ????? | ???? ???????? ??????? ????????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393192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200" b="0">
                <a:solidFill>
                  <a:srgbClr val="EBEFF2"/>
                </a:solidFill>
                <a:latin typeface="Arial"/>
              </a:rPr>
              <a:t>???????? ???????? (G_STUDIES) | ????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6035040"/>
            <a:ext cx="338328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EBEFF2"/>
                </a:solidFill>
                <a:latin typeface="Arial"/>
              </a:rPr>
              <a:t>???? ????? ?? ????? ?????? 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 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 ?????? ??? 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????? ???? ?? ?????? ????????? ??? ??????? ?? ?????? ????????.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72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149840" cy="384048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????? ?????? ?????? ???? ?????? ?? ?????? ??????</a:t>
            </a:r>
          </a:p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?????? ?????????: ??? ?????? ??????? ?????????</a:t>
            </a:r>
          </a:p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????????? ???????? ?????????? ??? ????? ?????????</a:t>
            </a:r>
          </a:p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????? ??????: ???????? ????? ???????? ?????? ????? ???????</a:t>
            </a:r>
          </a:p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 ??????? ????? ?????? ????? ??????</a:t>
            </a:r>
          </a:p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????? ??????? ?????? ?????? ????? ???????</a:t>
            </a:r>
          </a:p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 ?????? ????? ????? ??????</a:t>
            </a:r>
          </a:p>
          <a:p>
            <a:pPr algn="r"/>
            <a:r>
              <a:rPr sz="2000">
                <a:solidFill>
                  <a:srgbClr val="1E293B"/>
                </a:solidFill>
                <a:latin typeface="Arial"/>
              </a:rPr>
              <a:t>????? ?????? ?????? 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?????? 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???? 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?????? ?????????? ???? ?????? ??????? ???? ?? ???? ????? ?????? ?????? ?????.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20116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64748B"/>
                </a:solidFill>
                <a:latin typeface="Arial"/>
              </a:rPr>
              <a:t>????? 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84832"/>
            <a:ext cx="20116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600" b="1">
                <a:solidFill>
                  <a:srgbClr val="115D3A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05456"/>
            <a:ext cx="1993392" cy="32004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 ??????? ??? ???????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73736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1828800"/>
            <a:ext cx="20116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64748B"/>
                </a:solidFill>
                <a:latin typeface="Arial"/>
              </a:rPr>
              <a:t>??????? ????????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084832"/>
            <a:ext cx="20116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600" b="1">
                <a:solidFill>
                  <a:srgbClr val="115D3A"/>
                </a:solidFill>
                <a:latin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505456"/>
            <a:ext cx="1993392" cy="32004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????? ??????? ?????????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73736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1828800"/>
            <a:ext cx="20116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64748B"/>
                </a:solidFill>
                <a:latin typeface="Arial"/>
              </a:rPr>
              <a:t>????? 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084832"/>
            <a:ext cx="20116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600" b="1">
                <a:solidFill>
                  <a:srgbClr val="115D3A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2505456"/>
            <a:ext cx="1993392" cy="32004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?????? ????????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73736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1828800"/>
            <a:ext cx="20116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64748B"/>
                </a:solidFill>
                <a:latin typeface="Arial"/>
              </a:rPr>
              <a:t>????? ???????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2084832"/>
            <a:ext cx="20116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600" b="1">
                <a:solidFill>
                  <a:srgbClr val="115D3A"/>
                </a:solidFill>
                <a:latin typeface="Arial"/>
              </a:rPr>
              <a:t>4+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7" y="2505456"/>
            <a:ext cx="1993392" cy="32004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??????? ??????? ???????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10972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20440"/>
            <a:ext cx="10424160" cy="160020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900">
                <a:solidFill>
                  <a:srgbClr val="1E293B"/>
                </a:solidFill>
                <a:latin typeface="Arial"/>
              </a:rPr>
              <a:t>?????? ????? ????? ??????? ?????? ???????? ???? ???? ???????? ???????? ??????????.</a:t>
            </a:r>
          </a:p>
          <a:p>
            <a:pPr algn="r"/>
            <a:r>
              <a:rPr sz="1900">
                <a:solidFill>
                  <a:srgbClr val="1E293B"/>
                </a:solidFill>
                <a:latin typeface="Arial"/>
              </a:rPr>
              <a:t>????????? ????????? ??????????? ???? ?????? ??????? ?? ??? ????? ?? ??? ???? ??????.</a:t>
            </a:r>
          </a:p>
          <a:p>
            <a:pPr algn="r"/>
            <a:r>
              <a:rPr sz="1900">
                <a:solidFill>
                  <a:srgbClr val="1E293B"/>
                </a:solidFill>
                <a:latin typeface="Arial"/>
              </a:rPr>
              <a:t>???????? ???????? ??????? ??? ???? ???????? ????? ???? ??? ??? ??????? ???? ???? ?????? ??????? ??????? ????? ???????.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?????? 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 ??? ????? ??? ?????? ??? 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??????? ??????? ?? ????? ???? ?????? ???? ?? ??? ?????.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417320"/>
            <a:ext cx="4389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402336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5148072"/>
            <a:ext cx="3977639" cy="256032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????? ??????? ???????? ????????? ?? 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43600" cy="320040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900">
                <a:solidFill>
                  <a:srgbClr val="1E293B"/>
                </a:solidFill>
                <a:latin typeface="Arial"/>
              </a:rPr>
              <a:t>1917: ??? ????? ???? ???? ????? ???????? ????? ???? ?????? ????????.</a:t>
            </a:r>
          </a:p>
          <a:p>
            <a:pPr algn="r"/>
            <a:r>
              <a:rPr sz="1900">
                <a:solidFill>
                  <a:srgbClr val="1E293B"/>
                </a:solidFill>
                <a:latin typeface="Arial"/>
              </a:rPr>
              <a:t>???? ???????? ????????? ????? ????? ?????? ??????????? ???????? ??? ??? ??? ??????.</a:t>
            </a:r>
          </a:p>
          <a:p>
            <a:pPr algn="r"/>
            <a:r>
              <a:rPr sz="1900">
                <a:solidFill>
                  <a:srgbClr val="1E293B"/>
                </a:solidFill>
                <a:latin typeface="Arial"/>
              </a:rPr>
              <a:t>1948: ?????? ????? ???? ?????? ????? ?????? ??? ???? ???? ???????? ???????.</a:t>
            </a:r>
          </a:p>
          <a:p>
            <a:pPr algn="r"/>
            <a:r>
              <a:rPr sz="1900">
                <a:solidFill>
                  <a:srgbClr val="1E293B"/>
                </a:solidFill>
                <a:latin typeface="Arial"/>
              </a:rPr>
              <a:t>1967 ??? ?????: ???? ???????? ?????? ??????? ????????? ??? ????? ???????? ??????????.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760720" cy="685800"/>
          </a:xfrm>
          <a:prstGeom prst="roundRect">
            <a:avLst/>
          </a:prstGeom>
          <a:solidFill>
            <a:srgbClr val="11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266944"/>
            <a:ext cx="5394960" cy="237744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???????: ?????? ????? ?????? ?? ????????? ????????? ?????????? ?? ???? ?????.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 ??????? 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????? ????? ????? ????????? ????? ???? 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 ?????? ??????? ???????? ?????? ??????? ???? ?? ?????? ??????? ???????? ?????????.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463040"/>
            <a:ext cx="4069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fuge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645920"/>
            <a:ext cx="3749039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5230368"/>
            <a:ext cx="3657600" cy="256032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 ????? ?? ??? ?????? ?????????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6126480" cy="324612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 ????? ?????? ??? ?????? ?????? ?? ??? ?????? ?????????.</a:t>
            </a:r>
          </a:p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?????? ?????? ?????? ???? ???? ??????? ??????? ?? ??????????? ????? ?????? ??????.</a:t>
            </a:r>
          </a:p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????????? ?????? ??? ??????? ???????? ?????? ??????? ???? ????? ???? ?????? ?? ????? ????? ???????.</a:t>
            </a:r>
          </a:p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??? ???? ???? ????? ??????? ?????? ?????? ?????? ???????? ??????.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02352"/>
            <a:ext cx="6035040" cy="731520"/>
          </a:xfrm>
          <a:prstGeom prst="round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321808"/>
            <a:ext cx="5623560" cy="22860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??????? ???? ?????: ?????? ???????? ??????????? ??? ?????? ???????? ??????? ??? ????????.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 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 ????? ?????? ??? ?????? 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 ???? ??? ????? ????? ???????? ????? ???????? ?????? ????? ??????.</a:t>
            </a:r>
          </a:p>
        </p:txBody>
      </p:sp>
      <p:pic>
        <p:nvPicPr>
          <p:cNvPr id="5" name="Picture 4" descr="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54480"/>
            <a:ext cx="406908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1645920"/>
            <a:ext cx="6126480" cy="315468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?????? ??? ????? ????? ??????? ???? ????? ??? ??? ??????? ????????? ???????.</a:t>
            </a:r>
          </a:p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?????? ????? ??????? ???? ?????? ??? ???????? ?????????? ???? ????? ????? ?????? ??????.</a:t>
            </a:r>
          </a:p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?????? ??? ????? ????? ??????? ?????? ??????? ??????????? ?????? ???????.</a:t>
            </a:r>
          </a:p>
          <a:p>
            <a:pPr algn="r"/>
            <a:r>
              <a:rPr sz="1800">
                <a:solidFill>
                  <a:srgbClr val="1E293B"/>
                </a:solidFill>
                <a:latin typeface="Arial"/>
              </a:rPr>
              <a:t>?????? ?? ??? ??????? ???? ?? ???? ?? ???? ?????? ?????? ???? ?????????.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937760"/>
            <a:ext cx="4297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5138928"/>
            <a:ext cx="38404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115D3A"/>
                </a:solidFill>
                <a:latin typeface="Arial"/>
              </a:rPr>
              <a:t>????? ??????? ??????: ICJ 2024? ???? 2334? ??????? ????? ???????.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 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?????? ?? ???? ??????? ???? ?? ???? ????? ?????? 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????? ????????? ?????????? ??? ????? ?? ????? ??????.</a:t>
            </a:r>
          </a:p>
        </p:txBody>
      </p:sp>
      <p:pic>
        <p:nvPicPr>
          <p:cNvPr id="5" name="Picture 4" descr="econ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08760"/>
            <a:ext cx="3977639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7830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20"/>
            <a:ext cx="20116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64748B"/>
                </a:solidFill>
                <a:latin typeface="Arial"/>
              </a:rPr>
              <a:t>????????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30552"/>
            <a:ext cx="20116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600" b="1">
                <a:solidFill>
                  <a:srgbClr val="115D3A"/>
                </a:solidFill>
                <a:latin typeface="Arial"/>
              </a:rPr>
              <a:t>????? 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51176"/>
            <a:ext cx="1993392" cy="32004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?????? ???????? ???? ?????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874520"/>
            <a:ext cx="20116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64748B"/>
                </a:solidFill>
                <a:latin typeface="Arial"/>
              </a:rPr>
              <a:t>??? 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130552"/>
            <a:ext cx="20116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600" b="1">
                <a:solidFill>
                  <a:srgbClr val="115D3A"/>
                </a:solidFill>
                <a:latin typeface="Arial"/>
              </a:rPr>
              <a:t>??? 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551176"/>
            <a:ext cx="1993392" cy="32004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 ????? ?????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7830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1874520"/>
            <a:ext cx="20116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64748B"/>
                </a:solidFill>
                <a:latin typeface="Arial"/>
              </a:rPr>
              <a:t>??????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2130552"/>
            <a:ext cx="201168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600" b="1">
                <a:solidFill>
                  <a:srgbClr val="115D3A"/>
                </a:solidFill>
                <a:latin typeface="Arial"/>
              </a:rPr>
              <a:t>????? ?????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2551176"/>
            <a:ext cx="1993392" cy="32004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????? ????? ?????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6355080" cy="210312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 ?????? ???????? ?? ??? ??? 2007 ???? ???? ???????? ????? ?????? 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 ????? ?????? ?????? ????? ??????? ???? ??? ????? ??????? ??? ????? ???? 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 ?????????? ?? ?????? ?????? ?????? ?????? ???????? ?????? ????????? ???? ???????? ?????.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??????? ?? 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???? ???????: ??? ????? 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?????? ???????? ???: ??????? ???? ????? ???????? ?? ?????? ????? ????? ??????? ????.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508760"/>
            <a:ext cx="36576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nw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691640"/>
            <a:ext cx="33375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691640"/>
            <a:ext cx="6309360" cy="324612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 ?? ???? ??? ???? ???????? ?? ???? ????? ?????? ????? ?????? ?????????.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 ????? ????? ?? ?????? ???????????? ??? ?? ??? ?? ???? ?????? ?????? ???????.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 ?? ????? ????? ?????? ?? ?????? ????????? ??????? ???? ???? ???? ???? 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 ??????? ??? ????? ??? ??? ????? ????? ?????? ??? ?????? ???? ???? ?????? ????? ?? ????? ?????????.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74920"/>
            <a:ext cx="6217920" cy="685800"/>
          </a:xfrm>
          <a:prstGeom prst="roundRect">
            <a:avLst/>
          </a:prstGeom>
          <a:solidFill>
            <a:srgbClr val="11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85232"/>
            <a:ext cx="580644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???????? ????????: ????? ??????? ??? ?????? ????????? ????????? ??????????? ???? ???????.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??????? 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????? ????? ?????? ??? 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 ?????? ?????? ??? ???????? ?????? ??? 7 ??????.</a:t>
            </a:r>
          </a:p>
        </p:txBody>
      </p:sp>
      <p:pic>
        <p:nvPicPr>
          <p:cNvPr id="5" name="Picture 4" descr="m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463040"/>
            <a:ext cx="420624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1645920"/>
            <a:ext cx="6126480" cy="333756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2018: ?????? ?????? ???? ????? ????? ??? ?????? ??????? ???????? ???????? 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??????? ??????? ??????? ????? ??? ???? ????? ???????? ?? ???? ????? ?????? ???????? ????????.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 7 ?????? ??? ????? ????? ???? ??????? ?????? ?????? ????? ????????? ??? ????? 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 ??????? ?????? ??? ?????? ???????? ????? ?????? ????????? ???????????? ?????????.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30368"/>
            <a:ext cx="10241280" cy="347472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???????? ????????: ??????? ?? ????? ????????? ??????? ???? ?? ???? ????? ????? ?????? ???????.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??????? 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???? ?????? ?? ??? 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?????? ?? ????? ?????? ????? ?????? ?????? ?? ???????? ?????? ???????.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000" b="1">
                <a:solidFill>
                  <a:srgbClr val="115D3A"/>
                </a:solidFill>
                <a:latin typeface="Arial"/>
              </a:rPr>
              <a:t>????? 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617720" cy="320040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??????? ???????? ????? ??????? ???? ??? ?????? ????? ????? ????? ?? 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 ?????????? ???? ?? ???? ?????? ?????? ????? ???????? ?? ????? ???????.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 ???????? ????? ????? ??????? ??????? ?????? ????? ????????? ?? ??? ?? ????? ??.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3657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000" b="1">
                <a:solidFill>
                  <a:srgbClr val="115D3A"/>
                </a:solidFill>
                <a:latin typeface="Arial"/>
              </a:rPr>
              <a:t>??????? ????? ??????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663440" cy="320040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 ??????? ?????? ??? ?????? ??? ????????.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 ????? ???????? ???? ???????? ????????? ?????? ???????.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 ?????? ??????? ??? ???? ?????? ?? ????? ?????? ???.</a:t>
            </a:r>
          </a:p>
          <a:p>
            <a:pPr algn="r"/>
            <a:r>
              <a:rPr sz="1700">
                <a:solidFill>
                  <a:srgbClr val="1E293B"/>
                </a:solidFill>
                <a:latin typeface="Arial"/>
              </a:rPr>
              <a:t>???????? ??? ?????? ?????? ????????? ??? ??? ???? ??????.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600" b="1">
                <a:solidFill>
                  <a:srgbClr val="A82020"/>
                </a:solidFill>
                <a:latin typeface="Arial"/>
              </a:rPr>
              <a:t>????? 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3000" b="1">
                <a:solidFill>
                  <a:srgbClr val="115D3A"/>
                </a:solidFill>
                <a:latin typeface="Arial"/>
              </a:rPr>
              <a:t>?? ???? ????? ???? 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????? ????? ???????? ??????? ????????? ????????? ???? ?????? ???????? ?? ???????.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0" y="1527048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ICJ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 ???? ??????? ?? ??????? ????????? ???????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93392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52760" y="2103120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6544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UN Security Council 2334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?????? ???????? ??????? ?????????? ???? ???????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9464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52760" y="2679192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42616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Amnesty International (2022)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62072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??????? ??????? ??????? ??????? ?? ???????????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45536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0" y="3255264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8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Human Rights Watch (2021)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38144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????? ??????? ???????? ?????????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21608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3831336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UNRWA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14216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 ?????? ???????? ???? ???????? ???????????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52760" y="4407408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70832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World Bank (2024)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90288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????? ????????? ????? ??????? ??? ???????? ?????????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73752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4983480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46904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Khalidi (2020)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?????? ????????? ?????????? ??????????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49824"/>
            <a:ext cx="10881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9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5559552"/>
            <a:ext cx="41148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A82020"/>
                </a:solidFill>
                <a:latin typeface="Arial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22976"/>
            <a:ext cx="9509760" cy="219456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400" b="1">
                <a:solidFill>
                  <a:srgbClr val="1E293B"/>
                </a:solidFill>
                <a:latin typeface="Arial"/>
              </a:rPr>
              <a:t>Papp? (2006)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42432"/>
            <a:ext cx="9509760" cy="201168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????? ??????? ?????? ????????? ???????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77240"/>
            <a:ext cx="10698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234440"/>
            <a:ext cx="9875520" cy="36576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1800" b="1">
                <a:solidFill>
                  <a:srgbClr val="CBA153"/>
                </a:solidFill>
                <a:latin typeface="Arial"/>
              </a:rPr>
              <a:t>??????? 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9875520" cy="91440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Arial"/>
              </a:rPr>
              <a:t>?????? ?????????? ???? ???????? ???? ??????? ???????? ??????? ??? ???? ??????? ???????? ???????? ??? ??? ?????.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692640" cy="1920240"/>
          </a:xfrm>
          <a:prstGeom prst="rect">
            <a:avLst/>
          </a:prstGeom>
          <a:noFill/>
        </p:spPr>
        <p:txBody>
          <a:bodyPr wrap="square" anchor="t" lIns="101600" rIns="101600" tIns="50800" bIns="50800">
            <a:normAutofit/>
          </a:bodyPr>
          <a:lstStyle/>
          <a:p>
            <a:pPr algn="r"/>
            <a:r>
              <a:rPr sz="1900">
                <a:solidFill>
                  <a:srgbClr val="ECF1F4"/>
                </a:solidFill>
                <a:latin typeface="Arial"/>
              </a:rPr>
              <a:t>??? ?????? ????? ??? ?????? ????????? ?????????? ????????? ??????????? ??????????.</a:t>
            </a:r>
          </a:p>
          <a:p>
            <a:pPr algn="r"/>
            <a:r>
              <a:rPr sz="1900">
                <a:solidFill>
                  <a:srgbClr val="ECF1F4"/>
                </a:solidFill>
                <a:latin typeface="Arial"/>
              </a:rPr>
              <a:t>??????? ??????? ?? ????? ?? ??? ????? ???????? ??? ?????? ????????.</a:t>
            </a:r>
          </a:p>
          <a:p>
            <a:pPr algn="r"/>
            <a:r>
              <a:rPr sz="1900">
                <a:solidFill>
                  <a:srgbClr val="ECF1F4"/>
                </a:solidFill>
                <a:latin typeface="Arial"/>
              </a:rPr>
              <a:t>?????? ???????? ???? ?? ?????? ?????: ???????? ????? ???????? ?? ?? ????? ??????? ???.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394960"/>
            <a:ext cx="9875520" cy="274320"/>
          </a:xfrm>
          <a:prstGeom prst="rect">
            <a:avLst/>
          </a:prstGeom>
          <a:noFill/>
        </p:spPr>
        <p:txBody>
          <a:bodyPr wrap="square" anchor="t" lIns="127000" tIns="76200" rIns="127000" bIns="76200">
            <a:normAutofit/>
          </a:bodyPr>
          <a:lstStyle/>
          <a:p>
            <a:pPr algn="r"/>
            <a:r>
              <a:rPr sz="2000" b="1">
                <a:solidFill>
                  <a:srgbClr val="CBA153"/>
                </a:solidFill>
                <a:latin typeface="Arial"/>
              </a:rPr>
              <a:t>????? 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